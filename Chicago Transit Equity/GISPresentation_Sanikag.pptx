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127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52C3C-FBB7-F771-E0EB-BDCEA56802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1FEC21-2288-F7E7-0CE1-3614B8AA14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8C8B0-1AFE-424C-9414-32C457C78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499C3-C671-4978-B448-68B98C7B077B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F63AA9-DCD6-0651-C151-C7C89618D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B4927-D368-1D7A-21FA-90FF5CD4C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4EF1-E870-4E4F-9D10-07E01908B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36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4FA4D-06B4-7BD7-96C8-ACEA3C51E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96A90-CA44-36AF-2213-BC10FE957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53E97-DB5A-20F7-B8AE-0BBB27575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499C3-C671-4978-B448-68B98C7B077B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7E784-65C5-8679-CF91-56505454B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E8F0E-EA80-7F2E-A562-8670863B1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4EF1-E870-4E4F-9D10-07E01908B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128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AC084-5BDA-7051-5CC1-43AB27B07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554DD-8E52-9A9F-1002-A84C38B0A4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35E7AD-2D36-4D12-626F-192D2FBEF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499C3-C671-4978-B448-68B98C7B077B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698B4-1E03-1601-BAF2-73EAABDE0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B9B59-59E6-B7AB-C66C-FB1E3D729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4EF1-E870-4E4F-9D10-07E01908B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250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CC04C-5743-AD5D-A14A-4F526445F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932CA-DD60-66F0-CD08-EC9543600E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DA06E4-CFD0-A4A6-0094-D36D810A5D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981961-977A-62D6-0FEB-89C604448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499C3-C671-4978-B448-68B98C7B077B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7E1A6E-E213-DF16-B4B3-3148529F5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3ACCF9-F1EE-2E4E-98AE-9672C59FF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4EF1-E870-4E4F-9D10-07E01908B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232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D2FFF-EC96-4F7F-0313-2332D8E71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32FDB3-E05C-31E6-2D92-6673EFB152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E76714-4FCE-5235-05E4-7B295669C7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94CD94-2B3D-AE1A-1321-9E182C9638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E80895-1D84-BCC4-F0CD-2FC23AA6D1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DF521A-950D-A2C2-0F25-B4178FAA5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499C3-C671-4978-B448-68B98C7B077B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DE7651-F5AA-6524-92A4-A8B6F06F1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670A98-28D7-0B69-AC0C-3B344F44D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4EF1-E870-4E4F-9D10-07E01908B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97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17A99-6FF1-305B-0B72-E77A1AB56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BE545E-C8E9-1970-81F3-6F88B2EB6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499C3-C671-4978-B448-68B98C7B077B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71D014-C5D8-06B9-F40B-D450360FE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EE768E-1371-156D-AB1B-86D4219D0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4EF1-E870-4E4F-9D10-07E01908B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785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04F683-3B05-F653-C355-8EB7ACCC1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499C3-C671-4978-B448-68B98C7B077B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10BD9F-75D0-4EE3-27EE-1854C849E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D09EE6-51E8-3DB2-C4B1-146E23B44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4EF1-E870-4E4F-9D10-07E01908B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793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62751-E3EE-E14B-D14F-BCAC73601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EAB9B-D4E8-6964-48C1-6252BFF21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EFE169-9831-369F-A276-B8DEB8E2D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446A29-2611-8D69-E833-A0A63CBCB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499C3-C671-4978-B448-68B98C7B077B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62FD6B-D9BB-2DC5-C112-D4C501725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3E581-AE70-B9E4-7210-D086B0A9B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4EF1-E870-4E4F-9D10-07E01908B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104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A1514-272A-E989-7F8D-38BD0FB89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26AE06-CE15-0BB3-BF36-9778256EED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960A0A-C781-8863-8323-656203465A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6BB08F-71B4-19E3-64A4-EE7927147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499C3-C671-4978-B448-68B98C7B077B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2083D0-9B06-AAC5-EF87-D5E9E623F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7180D7-62A4-365A-D7A4-B19C7C6FC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4EF1-E870-4E4F-9D10-07E01908B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554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0D1A-52A4-CAE9-309E-46BC1CE14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AA912-ECDF-12A3-6FC0-3EFE884012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54EEB-9D2E-5D57-27EF-3B53E1E72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499C3-C671-4978-B448-68B98C7B077B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DF19E-6425-8BC2-1DB0-ED42A5FFE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8C3E7-833E-888A-E14B-22CE806AD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4EF1-E870-4E4F-9D10-07E01908B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518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D8AB7D-FFE3-7158-D048-EA76E3C19D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158EC2-7AC0-B1D4-4CA7-03B8C390CC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B6FAE-1AD5-4C24-80EF-254C32EFF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499C3-C671-4978-B448-68B98C7B077B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ABAF44-2886-C077-BB38-25E56E188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848A5-43D6-5891-E270-22963D423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4EF1-E870-4E4F-9D10-07E01908B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976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6E3561-B295-A375-108A-174AEA5BD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ACE2CA-8221-CDB6-DA68-D3CB0F786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2266A-D269-9221-FFEB-CB9C962801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F499C3-C671-4978-B448-68B98C7B077B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097AA-4B5C-EC3B-B157-0B07494E2F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A5A94-1FDE-C3F1-10F5-53FE3972B1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BA4EF1-E870-4E4F-9D10-07E01908B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437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storymaps.arcgis.com/stories/8dfe6de212414c4d8f9d61728bb356b4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7186A9-5E1F-F9C8-2D49-A72C93E3E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43467"/>
            <a:ext cx="4620584" cy="4567137"/>
          </a:xfrm>
        </p:spPr>
        <p:txBody>
          <a:bodyPr>
            <a:normAutofit/>
          </a:bodyPr>
          <a:lstStyle/>
          <a:p>
            <a:pPr algn="l"/>
            <a:r>
              <a:rPr lang="en-US" sz="4400"/>
              <a:t>All Aboard: Navigating Public Transit Access in Chicago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CFD020-5213-5CED-26E2-91C649C123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5277684"/>
            <a:ext cx="4620584" cy="775494"/>
          </a:xfrm>
        </p:spPr>
        <p:txBody>
          <a:bodyPr>
            <a:normAutofit/>
          </a:bodyPr>
          <a:lstStyle/>
          <a:p>
            <a:pPr algn="l"/>
            <a:r>
              <a:rPr lang="en-US" sz="1500"/>
              <a:t>A Spatial Analysis of Transit Equity in the Windy City</a:t>
            </a:r>
          </a:p>
          <a:p>
            <a:pPr algn="l"/>
            <a:r>
              <a:rPr lang="en-US" sz="1500"/>
              <a:t>By: Sanika Gokakkar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929649C-EE65-4C64-D623-FA4724680A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200" r="26893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147017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4" name="Rectangle 1033">
            <a:extLst>
              <a:ext uri="{FF2B5EF4-FFF2-40B4-BE49-F238E27FC236}">
                <a16:creationId xmlns:a16="http://schemas.microsoft.com/office/drawing/2014/main" id="{23E547B5-89CF-4EC0-96DE-25771AED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6" name="Rectangle 1035">
            <a:extLst>
              <a:ext uri="{FF2B5EF4-FFF2-40B4-BE49-F238E27FC236}">
                <a16:creationId xmlns:a16="http://schemas.microsoft.com/office/drawing/2014/main" id="{3F0B8CEB-8279-4E5E-A0CE-1FC9F7173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782" y="0"/>
            <a:ext cx="7421217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68145C-4A97-7567-443B-84782E4A6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0466" y="609600"/>
            <a:ext cx="4140014" cy="1330839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</a:p>
        </p:txBody>
      </p:sp>
      <p:pic>
        <p:nvPicPr>
          <p:cNvPr id="1029" name="Picture 5" descr="Riding the Chicago 'L' train - a how to guide">
            <a:extLst>
              <a:ext uri="{FF2B5EF4-FFF2-40B4-BE49-F238E27FC236}">
                <a16:creationId xmlns:a16="http://schemas.microsoft.com/office/drawing/2014/main" id="{FD6B2952-275D-5F43-7B83-F03074B1E9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41" r="-1" b="-1"/>
          <a:stretch/>
        </p:blipFill>
        <p:spPr bwMode="auto">
          <a:xfrm>
            <a:off x="20" y="10"/>
            <a:ext cx="6901711" cy="6857990"/>
          </a:xfrm>
          <a:custGeom>
            <a:avLst/>
            <a:gdLst/>
            <a:ahLst/>
            <a:cxnLst/>
            <a:rect l="l" t="t" r="r" b="b"/>
            <a:pathLst>
              <a:path w="6901731" h="6858000">
                <a:moveTo>
                  <a:pt x="0" y="0"/>
                </a:moveTo>
                <a:lnTo>
                  <a:pt x="6897896" y="5958"/>
                </a:lnTo>
                <a:lnTo>
                  <a:pt x="6866823" y="62592"/>
                </a:lnTo>
                <a:lnTo>
                  <a:pt x="6901731" y="89476"/>
                </a:lnTo>
                <a:lnTo>
                  <a:pt x="6901731" y="103833"/>
                </a:lnTo>
                <a:lnTo>
                  <a:pt x="6900034" y="110092"/>
                </a:lnTo>
                <a:lnTo>
                  <a:pt x="6901731" y="113679"/>
                </a:lnTo>
                <a:lnTo>
                  <a:pt x="6901731" y="405560"/>
                </a:lnTo>
                <a:lnTo>
                  <a:pt x="6900456" y="429509"/>
                </a:lnTo>
                <a:cubicBezTo>
                  <a:pt x="6892773" y="535647"/>
                  <a:pt x="6878314" y="537918"/>
                  <a:pt x="6886342" y="636808"/>
                </a:cubicBezTo>
                <a:cubicBezTo>
                  <a:pt x="6892506" y="756883"/>
                  <a:pt x="6864504" y="771443"/>
                  <a:pt x="6851784" y="839073"/>
                </a:cubicBezTo>
                <a:cubicBezTo>
                  <a:pt x="6838675" y="892655"/>
                  <a:pt x="6864124" y="961738"/>
                  <a:pt x="6845760" y="994930"/>
                </a:cubicBezTo>
                <a:cubicBezTo>
                  <a:pt x="6833572" y="1024166"/>
                  <a:pt x="6859282" y="1058905"/>
                  <a:pt x="6845601" y="1112932"/>
                </a:cubicBezTo>
                <a:cubicBezTo>
                  <a:pt x="6838700" y="1149910"/>
                  <a:pt x="6829138" y="1151035"/>
                  <a:pt x="6820235" y="1187433"/>
                </a:cubicBezTo>
                <a:cubicBezTo>
                  <a:pt x="6815504" y="1196464"/>
                  <a:pt x="6777707" y="1338549"/>
                  <a:pt x="6759643" y="1337010"/>
                </a:cubicBezTo>
                <a:cubicBezTo>
                  <a:pt x="6737660" y="1337296"/>
                  <a:pt x="6760650" y="1396341"/>
                  <a:pt x="6736375" y="1382272"/>
                </a:cubicBezTo>
                <a:cubicBezTo>
                  <a:pt x="6755741" y="1415836"/>
                  <a:pt x="6714675" y="1414567"/>
                  <a:pt x="6701292" y="1432111"/>
                </a:cubicBezTo>
                <a:cubicBezTo>
                  <a:pt x="6721110" y="1460185"/>
                  <a:pt x="6692106" y="1490815"/>
                  <a:pt x="6686578" y="1518624"/>
                </a:cubicBezTo>
                <a:cubicBezTo>
                  <a:pt x="6682512" y="1567002"/>
                  <a:pt x="6679579" y="1571443"/>
                  <a:pt x="6670824" y="1607743"/>
                </a:cubicBezTo>
                <a:cubicBezTo>
                  <a:pt x="6671133" y="1629590"/>
                  <a:pt x="6663161" y="1656870"/>
                  <a:pt x="6664392" y="1696405"/>
                </a:cubicBezTo>
                <a:cubicBezTo>
                  <a:pt x="6655686" y="1770486"/>
                  <a:pt x="6641938" y="1757082"/>
                  <a:pt x="6642880" y="1812372"/>
                </a:cubicBezTo>
                <a:cubicBezTo>
                  <a:pt x="6638579" y="1872475"/>
                  <a:pt x="6619231" y="1825476"/>
                  <a:pt x="6612547" y="1876437"/>
                </a:cubicBezTo>
                <a:cubicBezTo>
                  <a:pt x="6600695" y="1913834"/>
                  <a:pt x="6591061" y="1923231"/>
                  <a:pt x="6571760" y="1953331"/>
                </a:cubicBezTo>
                <a:cubicBezTo>
                  <a:pt x="6561039" y="1989021"/>
                  <a:pt x="6544090" y="2087896"/>
                  <a:pt x="6520213" y="2096455"/>
                </a:cubicBezTo>
                <a:lnTo>
                  <a:pt x="6492461" y="2188148"/>
                </a:lnTo>
                <a:cubicBezTo>
                  <a:pt x="6504372" y="2211333"/>
                  <a:pt x="6489131" y="2253220"/>
                  <a:pt x="6471854" y="2259117"/>
                </a:cubicBezTo>
                <a:cubicBezTo>
                  <a:pt x="6466151" y="2287829"/>
                  <a:pt x="6440452" y="2301346"/>
                  <a:pt x="6439832" y="2328334"/>
                </a:cubicBezTo>
                <a:cubicBezTo>
                  <a:pt x="6431013" y="2351201"/>
                  <a:pt x="6444250" y="2396409"/>
                  <a:pt x="6425162" y="2408211"/>
                </a:cubicBezTo>
                <a:lnTo>
                  <a:pt x="6417221" y="2427382"/>
                </a:lnTo>
                <a:lnTo>
                  <a:pt x="6425030" y="2464387"/>
                </a:lnTo>
                <a:lnTo>
                  <a:pt x="6406293" y="2472223"/>
                </a:lnTo>
                <a:cubicBezTo>
                  <a:pt x="6406862" y="2477277"/>
                  <a:pt x="6406486" y="2491723"/>
                  <a:pt x="6405400" y="2493547"/>
                </a:cubicBezTo>
                <a:lnTo>
                  <a:pt x="6374829" y="2532070"/>
                </a:lnTo>
                <a:cubicBezTo>
                  <a:pt x="6374597" y="2545374"/>
                  <a:pt x="6360976" y="2563797"/>
                  <a:pt x="6350864" y="2577422"/>
                </a:cubicBezTo>
                <a:cubicBezTo>
                  <a:pt x="6327056" y="2632768"/>
                  <a:pt x="6341262" y="2616275"/>
                  <a:pt x="6329174" y="2663854"/>
                </a:cubicBezTo>
                <a:cubicBezTo>
                  <a:pt x="6326303" y="2703642"/>
                  <a:pt x="6332854" y="2709643"/>
                  <a:pt x="6315095" y="2741507"/>
                </a:cubicBezTo>
                <a:cubicBezTo>
                  <a:pt x="6319921" y="2740191"/>
                  <a:pt x="6321925" y="2742004"/>
                  <a:pt x="6322463" y="2745641"/>
                </a:cubicBezTo>
                <a:cubicBezTo>
                  <a:pt x="6322245" y="2747982"/>
                  <a:pt x="6322027" y="2750323"/>
                  <a:pt x="6321808" y="2752663"/>
                </a:cubicBezTo>
                <a:lnTo>
                  <a:pt x="6314569" y="2756718"/>
                </a:lnTo>
                <a:cubicBezTo>
                  <a:pt x="6289324" y="2773686"/>
                  <a:pt x="6317551" y="2780051"/>
                  <a:pt x="6315211" y="2811618"/>
                </a:cubicBezTo>
                <a:cubicBezTo>
                  <a:pt x="6315620" y="2826627"/>
                  <a:pt x="6296047" y="2885298"/>
                  <a:pt x="6302211" y="2882314"/>
                </a:cubicBezTo>
                <a:lnTo>
                  <a:pt x="6286167" y="2949597"/>
                </a:lnTo>
                <a:cubicBezTo>
                  <a:pt x="6286401" y="2994618"/>
                  <a:pt x="6286615" y="2971464"/>
                  <a:pt x="6287037" y="3008578"/>
                </a:cubicBezTo>
                <a:cubicBezTo>
                  <a:pt x="6293795" y="3029535"/>
                  <a:pt x="6274405" y="3114154"/>
                  <a:pt x="6259150" y="3123139"/>
                </a:cubicBezTo>
                <a:cubicBezTo>
                  <a:pt x="6250085" y="3189063"/>
                  <a:pt x="6269067" y="3151280"/>
                  <a:pt x="6272249" y="3227854"/>
                </a:cubicBezTo>
                <a:cubicBezTo>
                  <a:pt x="6278775" y="3295842"/>
                  <a:pt x="6289216" y="3303765"/>
                  <a:pt x="6292288" y="3378383"/>
                </a:cubicBezTo>
                <a:cubicBezTo>
                  <a:pt x="6303894" y="3395995"/>
                  <a:pt x="6287498" y="3432581"/>
                  <a:pt x="6288328" y="3459618"/>
                </a:cubicBezTo>
                <a:cubicBezTo>
                  <a:pt x="6289158" y="3486653"/>
                  <a:pt x="6299937" y="3538735"/>
                  <a:pt x="6297272" y="3540603"/>
                </a:cubicBezTo>
                <a:cubicBezTo>
                  <a:pt x="6296849" y="3577379"/>
                  <a:pt x="6294184" y="3587943"/>
                  <a:pt x="6291001" y="3638374"/>
                </a:cubicBezTo>
                <a:cubicBezTo>
                  <a:pt x="6283026" y="3666794"/>
                  <a:pt x="6265833" y="3731744"/>
                  <a:pt x="6283592" y="3763609"/>
                </a:cubicBezTo>
                <a:cubicBezTo>
                  <a:pt x="6264286" y="3758340"/>
                  <a:pt x="6290177" y="3803150"/>
                  <a:pt x="6274068" y="3814506"/>
                </a:cubicBezTo>
                <a:cubicBezTo>
                  <a:pt x="6260645" y="3821643"/>
                  <a:pt x="6265372" y="3836902"/>
                  <a:pt x="6262850" y="3850454"/>
                </a:cubicBezTo>
                <a:cubicBezTo>
                  <a:pt x="6250418" y="3863479"/>
                  <a:pt x="6250660" y="3955243"/>
                  <a:pt x="6257357" y="3975474"/>
                </a:cubicBezTo>
                <a:cubicBezTo>
                  <a:pt x="6245091" y="4036737"/>
                  <a:pt x="6237535" y="4029237"/>
                  <a:pt x="6257889" y="4073155"/>
                </a:cubicBezTo>
                <a:cubicBezTo>
                  <a:pt x="6259272" y="4085906"/>
                  <a:pt x="6239882" y="4116397"/>
                  <a:pt x="6237441" y="4126638"/>
                </a:cubicBezTo>
                <a:lnTo>
                  <a:pt x="6245587" y="4172738"/>
                </a:lnTo>
                <a:lnTo>
                  <a:pt x="6235772" y="4176721"/>
                </a:lnTo>
                <a:lnTo>
                  <a:pt x="6233287" y="4195136"/>
                </a:lnTo>
                <a:lnTo>
                  <a:pt x="6234619" y="4280850"/>
                </a:lnTo>
                <a:cubicBezTo>
                  <a:pt x="6239453" y="4320763"/>
                  <a:pt x="6223309" y="4337596"/>
                  <a:pt x="6219318" y="4402526"/>
                </a:cubicBezTo>
                <a:cubicBezTo>
                  <a:pt x="6205466" y="4516209"/>
                  <a:pt x="6216183" y="4588729"/>
                  <a:pt x="6216810" y="4651172"/>
                </a:cubicBezTo>
                <a:cubicBezTo>
                  <a:pt x="6217673" y="4756959"/>
                  <a:pt x="6228654" y="4824005"/>
                  <a:pt x="6225945" y="4916779"/>
                </a:cubicBezTo>
                <a:cubicBezTo>
                  <a:pt x="6217032" y="4993010"/>
                  <a:pt x="6264271" y="4984591"/>
                  <a:pt x="6230174" y="5051379"/>
                </a:cubicBezTo>
                <a:cubicBezTo>
                  <a:pt x="6235713" y="5056951"/>
                  <a:pt x="6239420" y="5163714"/>
                  <a:pt x="6242600" y="5170879"/>
                </a:cubicBezTo>
                <a:lnTo>
                  <a:pt x="6235996" y="5216428"/>
                </a:lnTo>
                <a:lnTo>
                  <a:pt x="6214638" y="5285298"/>
                </a:lnTo>
                <a:cubicBezTo>
                  <a:pt x="6211392" y="5297492"/>
                  <a:pt x="6225576" y="5312063"/>
                  <a:pt x="6228432" y="5317696"/>
                </a:cubicBezTo>
                <a:lnTo>
                  <a:pt x="6246496" y="5398787"/>
                </a:lnTo>
                <a:lnTo>
                  <a:pt x="6244793" y="5399530"/>
                </a:lnTo>
                <a:lnTo>
                  <a:pt x="6241695" y="5406948"/>
                </a:lnTo>
                <a:lnTo>
                  <a:pt x="6267461" y="5499413"/>
                </a:lnTo>
                <a:cubicBezTo>
                  <a:pt x="6285387" y="5533848"/>
                  <a:pt x="6284888" y="5550029"/>
                  <a:pt x="6295987" y="5582659"/>
                </a:cubicBezTo>
                <a:cubicBezTo>
                  <a:pt x="6311253" y="5681724"/>
                  <a:pt x="6295439" y="5695558"/>
                  <a:pt x="6364803" y="5784263"/>
                </a:cubicBezTo>
                <a:cubicBezTo>
                  <a:pt x="6379348" y="5818651"/>
                  <a:pt x="6412475" y="5906802"/>
                  <a:pt x="6423050" y="5922637"/>
                </a:cubicBezTo>
                <a:cubicBezTo>
                  <a:pt x="6445210" y="5973612"/>
                  <a:pt x="6468179" y="6023873"/>
                  <a:pt x="6497767" y="6090108"/>
                </a:cubicBezTo>
                <a:cubicBezTo>
                  <a:pt x="6571895" y="6150548"/>
                  <a:pt x="6572491" y="6236583"/>
                  <a:pt x="6606710" y="6281543"/>
                </a:cubicBezTo>
                <a:cubicBezTo>
                  <a:pt x="6633675" y="6335892"/>
                  <a:pt x="6654357" y="6388782"/>
                  <a:pt x="6667540" y="6443715"/>
                </a:cubicBezTo>
                <a:cubicBezTo>
                  <a:pt x="6685192" y="6466826"/>
                  <a:pt x="6650500" y="6508701"/>
                  <a:pt x="6659722" y="6550105"/>
                </a:cubicBezTo>
                <a:cubicBezTo>
                  <a:pt x="6665926" y="6645044"/>
                  <a:pt x="6669126" y="6627536"/>
                  <a:pt x="6671805" y="6687397"/>
                </a:cubicBezTo>
                <a:cubicBezTo>
                  <a:pt x="6682671" y="6733683"/>
                  <a:pt x="6665210" y="6772117"/>
                  <a:pt x="6669658" y="6806602"/>
                </a:cubicBezTo>
                <a:cubicBezTo>
                  <a:pt x="6661174" y="6812658"/>
                  <a:pt x="6667097" y="6831470"/>
                  <a:pt x="6675783" y="6850325"/>
                </a:cubicBezTo>
                <a:lnTo>
                  <a:pt x="6679704" y="6858000"/>
                </a:lnTo>
                <a:lnTo>
                  <a:pt x="4532241" y="6858000"/>
                </a:lnTo>
                <a:lnTo>
                  <a:pt x="1208596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39226-1BB5-664C-112D-D5F5B5C4B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0465" y="2194102"/>
            <a:ext cx="4140013" cy="39085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Why Transit Access Matters?</a:t>
            </a:r>
          </a:p>
          <a:p>
            <a:pPr marL="0" indent="0">
              <a:buNone/>
            </a:pPr>
            <a:endParaRPr lang="en-US" sz="2000" dirty="0"/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Public transportation is essential for economic opportunity, mobility, and equity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 cities like Chicago, access to transit is not distributed equally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This project explores who has access — and who’s left behind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56265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0" name="Rectangle 2059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85B506-3901-AF4F-7D8A-DD98DEFCB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US" dirty="0"/>
              <a:t>Project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BCA86-4A23-9DFD-0F7B-5EF058BE5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Map CTA train access across Chicago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Identify neighborhoods with limited transit service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Analyze links between transit access and demographic factors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Recommend strategies to promote equitable transit development</a:t>
            </a:r>
          </a:p>
          <a:p>
            <a:endParaRPr lang="en-US" sz="2000" dirty="0"/>
          </a:p>
        </p:txBody>
      </p:sp>
      <p:pic>
        <p:nvPicPr>
          <p:cNvPr id="2052" name="Picture 4" descr="Its finally here! Version 2 of my full Chicago trains map! (Please let me  know of any mistakes, ty) : r/chicago">
            <a:extLst>
              <a:ext uri="{FF2B5EF4-FFF2-40B4-BE49-F238E27FC236}">
                <a16:creationId xmlns:a16="http://schemas.microsoft.com/office/drawing/2014/main" id="{F27F853C-CCA1-F947-F8C4-32E35F4EB9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700" r="23754"/>
          <a:stretch/>
        </p:blipFill>
        <p:spPr bwMode="auto">
          <a:xfrm>
            <a:off x="6229215" y="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2852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D0954-7EC9-D9DA-2679-D090FDE6B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en-US" sz="3600" dirty="0"/>
              <a:t>Tools &amp; Data Sources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B59CFF-0E11-4E59-098A-69A6653BC7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36"/>
          <a:stretch/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2B8FB-1541-C994-23A4-7716FE241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982" y="3752850"/>
            <a:ext cx="7485413" cy="2452687"/>
          </a:xfrm>
        </p:spPr>
        <p:txBody>
          <a:bodyPr anchor="ctr">
            <a:normAutofit/>
          </a:bodyPr>
          <a:lstStyle/>
          <a:p>
            <a:r>
              <a:rPr lang="en-US" altLang="en-US" sz="1800" b="1" dirty="0">
                <a:latin typeface="Arial" panose="020B0604020202020204" pitchFamily="34" charset="0"/>
              </a:rPr>
              <a:t>A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rcGIS Story Maps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for interactive storytelling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 CTA 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train routes, stops, neighborhoods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 U.S. Census 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demographics (income, population density)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 GIS Techniques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spatial joins, buffer analysis, and symbology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379184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9477870-C64A-4E35-8F2F-05B7114F3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5024ED-328B-67F9-20E7-1DAFA7BCE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78992"/>
            <a:ext cx="6268770" cy="1536192"/>
          </a:xfrm>
        </p:spPr>
        <p:txBody>
          <a:bodyPr anchor="b">
            <a:normAutofit/>
          </a:bodyPr>
          <a:lstStyle/>
          <a:p>
            <a:r>
              <a:rPr lang="en-US" sz="5200"/>
              <a:t>Mapping Transit Access</a:t>
            </a:r>
          </a:p>
        </p:txBody>
      </p:sp>
      <p:sp>
        <p:nvSpPr>
          <p:cNvPr id="18" name="!!accent">
            <a:extLst>
              <a:ext uri="{FF2B5EF4-FFF2-40B4-BE49-F238E27FC236}">
                <a16:creationId xmlns:a16="http://schemas.microsoft.com/office/drawing/2014/main" id="{8AEA628B-C8FF-4D0B-B111-F101F580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3202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2663BD0-064C-40FC-A331-F49FCA953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8506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981148C-DDCD-E4B7-94B6-86B0098530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5458" y="3355848"/>
            <a:ext cx="6268770" cy="282549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Transit is concentrated in the North Side and downtown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Higher frequency, more route options in wealthier neighborhoods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South and West Sides show gaps in coverage</a:t>
            </a:r>
          </a:p>
        </p:txBody>
      </p:sp>
      <p:pic>
        <p:nvPicPr>
          <p:cNvPr id="6" name="Picture 5" descr="A map of a city&#10;&#10;Description automatically generated">
            <a:extLst>
              <a:ext uri="{FF2B5EF4-FFF2-40B4-BE49-F238E27FC236}">
                <a16:creationId xmlns:a16="http://schemas.microsoft.com/office/drawing/2014/main" id="{A5A40BAA-BB97-2951-5DC0-EB8ECD937A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08" r="4063"/>
          <a:stretch/>
        </p:blipFill>
        <p:spPr>
          <a:xfrm>
            <a:off x="7684006" y="10"/>
            <a:ext cx="450799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450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506D41-BBF0-A883-48F7-AF6BC4CFC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Identifying Transit Deserts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9C438F9-C0EE-4EB2-4082-3F5DE18698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57987" y="2431765"/>
            <a:ext cx="8276026" cy="33200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Transit deserts = neighborhoods with few or no nearby CTA stops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These areas often overlap with low-income and minority communities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Limited mobility → fewer opportunities for work, school, healthcare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37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7EA347-5AA5-DFBC-5518-994C34536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Key Takeaways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AD1BBC3-62C3-6FBE-A637-244015EE40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57987" y="2431765"/>
            <a:ext cx="8276026" cy="33200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Chicago’s transit network is uneven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Service quality aligns with wealthier, central areas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Equity gaps persist in low-income neighborhoods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Data-driven maps reveal hidden patterns and inform better decisions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271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3E3DA-B620-7F2C-D8D6-9BDB7A361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FED5B-7E9C-D138-EB40-BCCCF30A42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87" y="2431765"/>
            <a:ext cx="8276026" cy="33200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Building a More Equitable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Expand transit services to underserved communities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Prioritize funding for South and West Side infrastructure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Involve residents in planning and decision-making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Use data and maps to guide future investments</a:t>
            </a:r>
          </a:p>
          <a:p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487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848E91-F12D-89A8-13D9-1DB2DE43F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723898"/>
            <a:ext cx="6002110" cy="1495425"/>
          </a:xfrm>
        </p:spPr>
        <p:txBody>
          <a:bodyPr>
            <a:normAutofit/>
          </a:bodyPr>
          <a:lstStyle/>
          <a:p>
            <a:r>
              <a:rPr lang="en-US" sz="4000"/>
              <a:t>Final Thoughts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3A0CF25-0A67-4A39-2A44-8B7E11EEE3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6680" y="2405067"/>
            <a:ext cx="6002110" cy="372903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Mapping this data helped me understand the human impact of transit gaps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Equity in transportation = equity in opportunity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Tools like Story Maps help bridge data and storytelling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Link to my story map: </a:t>
            </a:r>
            <a:r>
              <a:rPr lang="en-US" altLang="en-US" sz="2000" dirty="0">
                <a:latin typeface="Arial" panose="020B0604020202020204" pitchFamily="34" charset="0"/>
                <a:hlinkClick r:id="rId2"/>
              </a:rPr>
              <a:t>https://storymaps.arcgis.com/stories/8dfe6de212414c4d8f9d61728bb356b4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3DC694-8E94-F953-DAAB-02C324D496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754" r="24383" b="-1"/>
          <a:stretch/>
        </p:blipFill>
        <p:spPr>
          <a:xfrm>
            <a:off x="7199440" y="10"/>
            <a:ext cx="4992560" cy="68579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215878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2BA93-2CAE-802A-ACF1-194849CDAC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27009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/>
              <a:t>THANK YOU!!!!!</a:t>
            </a:r>
          </a:p>
        </p:txBody>
      </p:sp>
    </p:spTree>
    <p:extLst>
      <p:ext uri="{BB962C8B-B14F-4D97-AF65-F5344CB8AC3E}">
        <p14:creationId xmlns:p14="http://schemas.microsoft.com/office/powerpoint/2010/main" val="3473527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321</Words>
  <Application>Microsoft Office PowerPoint</Application>
  <PresentationFormat>Widescreen</PresentationFormat>
  <Paragraphs>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All Aboard: Navigating Public Transit Access in Chicago</vt:lpstr>
      <vt:lpstr>Introduction</vt:lpstr>
      <vt:lpstr>Project Goals</vt:lpstr>
      <vt:lpstr>Tools &amp; Data Sources</vt:lpstr>
      <vt:lpstr>Mapping Transit Access</vt:lpstr>
      <vt:lpstr>Identifying Transit Deserts</vt:lpstr>
      <vt:lpstr>Key Takeaways</vt:lpstr>
      <vt:lpstr>Recommendations</vt:lpstr>
      <vt:lpstr>Final Thoughts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Sanika A Gokakkar</dc:creator>
  <cp:lastModifiedBy>Sanika A Gokakkar</cp:lastModifiedBy>
  <cp:revision>1</cp:revision>
  <dcterms:created xsi:type="dcterms:W3CDTF">2025-04-25T17:43:02Z</dcterms:created>
  <dcterms:modified xsi:type="dcterms:W3CDTF">2025-04-25T18:05:18Z</dcterms:modified>
</cp:coreProperties>
</file>